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10"/>
    <p:sldId id="262" r:id="rId11"/>
    <p:sldId id="265" r:id="rId12"/>
  </p:sldIdLst>
  <p:sldSz cx="12192000" cy="6858000"/>
  <p:notesSz cx="6858000" cy="91440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790" userDrawn="1">
          <p15:clr>
            <a:srgbClr val="A4A3A4"/>
          </p15:clr>
        </p15:guide>
        <p15:guide id="2" pos="160" userDrawn="1">
          <p15:clr>
            <a:srgbClr val="A4A3A4"/>
          </p15:clr>
        </p15:guide>
        <p15:guide id="3" orient="horz" pos="10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0" y="78"/>
      </p:cViewPr>
      <p:guideLst>
        <p:guide orient="horz" pos="790"/>
        <p:guide pos="160"/>
        <p:guide orient="horz" pos="10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Developed a deep learning-based classifier using ResNet50 for high-accuracy garbage classification.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Implemented data augmentation techniques to improve generalization on real-world images.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Integrated a clean and interactive Streamlit-based web app to accept images via:</a:t>
            </a:r>
            <a:endParaRPr lang="en-US" altLang="en-US"/>
          </a:p>
          <a:p>
            <a:endParaRPr lang="en-US" altLang="en-US"/>
          </a:p>
          <a:p>
            <a:r>
              <a:rPr lang="zh-CN" altLang="en-US"/>
              <a:t>📁</a:t>
            </a:r>
            <a:r>
              <a:rPr lang="en-US" altLang="en-US"/>
              <a:t> File upload</a:t>
            </a:r>
            <a:endParaRPr lang="en-US" altLang="en-US"/>
          </a:p>
          <a:p>
            <a:endParaRPr lang="en-US" altLang="en-US"/>
          </a:p>
          <a:p>
            <a:r>
              <a:rPr lang="zh-CN" altLang="en-US"/>
              <a:t>🌐</a:t>
            </a:r>
            <a:r>
              <a:rPr lang="en-US" altLang="en-US"/>
              <a:t> URL input</a:t>
            </a:r>
            <a:endParaRPr lang="en-US" altLang="en-US"/>
          </a:p>
          <a:p>
            <a:endParaRPr lang="en-US" altLang="en-US"/>
          </a:p>
          <a:p>
            <a:r>
              <a:rPr lang="zh-CN" altLang="en-US"/>
              <a:t>📷</a:t>
            </a:r>
            <a:r>
              <a:rPr lang="en-US" altLang="en-US"/>
              <a:t> Webcam capture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Displayed prediction results with:</a:t>
            </a:r>
            <a:endParaRPr lang="en-US" altLang="en-US"/>
          </a:p>
          <a:p>
            <a:endParaRPr lang="en-US" altLang="en-US"/>
          </a:p>
          <a:p>
            <a:r>
              <a:rPr lang="zh-CN" altLang="en-US"/>
              <a:t>🎯</a:t>
            </a:r>
            <a:r>
              <a:rPr lang="en-US" altLang="en-US"/>
              <a:t> Top predicted class</a:t>
            </a:r>
            <a:endParaRPr lang="en-US" altLang="en-US"/>
          </a:p>
          <a:p>
            <a:endParaRPr lang="en-US" altLang="en-US"/>
          </a:p>
          <a:p>
            <a:r>
              <a:rPr lang="zh-CN" altLang="en-US"/>
              <a:t>📊</a:t>
            </a:r>
            <a:r>
              <a:rPr lang="en-US" altLang="en-US"/>
              <a:t> Confidence percentage</a:t>
            </a:r>
            <a:endParaRPr lang="en-US" altLang="en-US"/>
          </a:p>
          <a:p>
            <a:endParaRPr lang="en-US" altLang="en-US"/>
          </a:p>
          <a:p>
            <a:r>
              <a:rPr lang="zh-CN" altLang="en-US"/>
              <a:t>🔢</a:t>
            </a:r>
            <a:r>
              <a:rPr lang="en-US" altLang="en-US"/>
              <a:t> Probability distribution across all classes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301928" y="727642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805928" y="727642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567528" y="727642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jpe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/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>
            <a:fillRect/>
          </a:stretch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775156" y="2829560"/>
            <a:ext cx="687086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Smart Garbage Classifier Using Deep Learning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7070090" y="4250690"/>
            <a:ext cx="4064000" cy="1527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>
              <a:solidFill>
                <a:schemeClr val="bg1"/>
              </a:solidFill>
            </a:endParaRPr>
          </a:p>
          <a:p>
            <a:r>
              <a:rPr lang="en-GB" altLang="en-US" b="1">
                <a:solidFill>
                  <a:schemeClr val="bg1"/>
                </a:solidFill>
              </a:rPr>
              <a:t>Ch.Jyothirmai</a:t>
            </a:r>
            <a:endParaRPr lang="en-GB" altLang="en-US" b="1">
              <a:solidFill>
                <a:schemeClr val="bg1"/>
              </a:solidFill>
            </a:endParaRPr>
          </a:p>
          <a:p>
            <a:r>
              <a:rPr lang="en-GB" altLang="en-US" b="1">
                <a:solidFill>
                  <a:schemeClr val="bg1"/>
                </a:solidFill>
              </a:rPr>
              <a:t>CSE-4th year</a:t>
            </a:r>
            <a:endParaRPr lang="en-GB" altLang="en-US" b="1">
              <a:solidFill>
                <a:schemeClr val="bg1"/>
              </a:solidFill>
            </a:endParaRPr>
          </a:p>
          <a:p>
            <a:r>
              <a:rPr lang="en-GB" altLang="en-US" b="1">
                <a:solidFill>
                  <a:schemeClr val="bg1"/>
                </a:solidFill>
              </a:rPr>
              <a:t>RGUKT Nuzvid</a:t>
            </a:r>
            <a:endParaRPr lang="en-GB" altLang="en-US" b="1">
              <a:solidFill>
                <a:schemeClr val="bg1"/>
              </a:solidFill>
            </a:endParaRPr>
          </a:p>
          <a:p>
            <a:endParaRPr lang="en-GB" altLang="en-US" b="1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680960" y="4028440"/>
            <a:ext cx="406400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>
                <a:solidFill>
                  <a:schemeClr val="bg1"/>
                </a:solidFill>
              </a:rPr>
              <a:t>By</a:t>
            </a:r>
            <a:endParaRPr lang="en-GB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809" y="6135329"/>
            <a:ext cx="79587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 </a:t>
            </a:r>
            <a:endParaRPr lang="en-IN" sz="1200" b="1" dirty="0"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/>
          <p:cNvPicPr>
            <a:picLocks noChangeAspect="1"/>
          </p:cNvPicPr>
          <p:nvPr/>
        </p:nvPicPr>
        <p:blipFill rotWithShape="1">
          <a:blip r:embed="rId1">
            <a:alphaModFix amt="85000"/>
          </a:blip>
          <a:srcRect l="13763" t="6135" r="13650"/>
          <a:stretch>
            <a:fillRect/>
          </a:stretch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  <a:endParaRPr lang="en-IN" sz="35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00025" y="1562100"/>
            <a:ext cx="7456805" cy="4210050"/>
          </a:xfrm>
          <a:prstGeom prst="rect">
            <a:avLst/>
          </a:prstGeom>
        </p:spPr>
        <p:txBody>
          <a:bodyPr wrap="square">
            <a:noAutofit/>
          </a:bodyPr>
          <a:p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/>
              <a:t>Understand how to build and train a deep learning model for image classification</a:t>
            </a:r>
            <a:r>
              <a:rPr lang="en-GB" altLang="en-US" sz="1800" b="1"/>
              <a:t>.</a:t>
            </a: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/>
              <a:t>Learn how to use ResNet50 (transfer learning) effectively</a:t>
            </a:r>
            <a:r>
              <a:rPr lang="en-GB" altLang="en-US" sz="1800" b="1"/>
              <a:t>.</a:t>
            </a: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/>
              <a:t>Gain hands-on experience with image preprocessing and dataset augmentation</a:t>
            </a:r>
            <a:r>
              <a:rPr lang="en-GB" altLang="en-US" sz="1800" b="1"/>
              <a:t>.</a:t>
            </a: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/>
              <a:t>Build a user-friendly web interface using Streamlit</a:t>
            </a:r>
            <a:r>
              <a:rPr lang="en-GB" altLang="en-US" sz="1800" b="1"/>
              <a:t>.</a:t>
            </a: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/>
              <a:t>Integrate multiple input methods: upload, URL, and webcam</a:t>
            </a:r>
            <a:r>
              <a:rPr lang="en-GB" altLang="en-US" sz="1800" b="1"/>
              <a:t>.</a:t>
            </a: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/>
              <a:t>Interpret model outputs using confidence scores and class probabilities</a:t>
            </a:r>
            <a:r>
              <a:rPr lang="en-GB" altLang="en-US" sz="1800" b="1"/>
              <a:t>.</a:t>
            </a:r>
            <a:endParaRPr lang="en-GB" altLang="en-US" sz="1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</p:nvPr>
        </p:nvGraphicFramePr>
        <p:xfrm>
          <a:off x="1351280" y="1722120"/>
          <a:ext cx="975614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8070"/>
                <a:gridCol w="4878070"/>
              </a:tblGrid>
              <a:tr h="586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Technology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Language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Python</a:t>
                      </a:r>
                      <a:endParaRPr lang="en-GB" altLang="en-US"/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Deep Learning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Pytorch, Torchvision</a:t>
                      </a:r>
                      <a:endParaRPr lang="en-GB" altLang="en-US"/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Model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Resnet50</a:t>
                      </a:r>
                      <a:endParaRPr lang="en-GB" altLang="en-US"/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Data Handling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PIL, Requests</a:t>
                      </a:r>
                      <a:endParaRPr lang="en-GB" altLang="en-US"/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Web App UI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Streamlit</a:t>
                      </a:r>
                      <a:endParaRPr lang="en-GB" altLang="en-US"/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Visualisation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Pandas</a:t>
                      </a:r>
                      <a:endParaRPr lang="en-GB" altLang="en-US"/>
                    </a:p>
                  </a:txBody>
                  <a:tcPr/>
                </a:tc>
              </a:tr>
              <a:tr h="586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Dataset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Images</a:t>
                      </a: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13" name="矩形: 圆角 29"/>
          <p:cNvSpPr/>
          <p:nvPr>
            <p:custDataLst>
              <p:tags r:id="rId1"/>
            </p:custDataLst>
          </p:nvPr>
        </p:nvSpPr>
        <p:spPr>
          <a:xfrm>
            <a:off x="695008" y="2041843"/>
            <a:ext cx="3383681" cy="20072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rmAutofit fontScale="90000" lnSpcReduction="20000"/>
          </a:bodyPr>
          <a:lstStyle/>
          <a:p>
            <a:pPr marL="34290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16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Used a labeled garbage image dataset with 6 classes</a:t>
            </a:r>
            <a:endParaRPr lang="en-US" altLang="en-US" sz="16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en-US" sz="16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16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Applied data augmentation (rotation, flipping, color jitter)</a:t>
            </a:r>
            <a:endParaRPr lang="en-US" sz="16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15" name="标题"/>
          <p:cNvSpPr/>
          <p:nvPr>
            <p:custDataLst>
              <p:tags r:id="rId2"/>
            </p:custDataLst>
          </p:nvPr>
        </p:nvSpPr>
        <p:spPr>
          <a:xfrm>
            <a:off x="1063943" y="1707198"/>
            <a:ext cx="2646536" cy="6499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Data Preparation</a:t>
            </a:r>
            <a:endParaRPr lang="en-GB" alt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14" name="矩形: 圆角 1"/>
          <p:cNvSpPr/>
          <p:nvPr>
            <p:custDataLst>
              <p:tags r:id="rId3"/>
            </p:custDataLst>
          </p:nvPr>
        </p:nvSpPr>
        <p:spPr>
          <a:xfrm>
            <a:off x="4434523" y="2041843"/>
            <a:ext cx="3383681" cy="20072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2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Autofit/>
          </a:bodyPr>
          <a:lstStyle/>
          <a:p>
            <a:pPr marL="228600" indent="-228600" algn="l" rtl="0" eaLnBrk="1" hangingPunct="1">
              <a:lnSpc>
                <a:spcPct val="100000"/>
              </a:lnSpc>
              <a:buAutoNum type="arabicPeriod"/>
            </a:pPr>
            <a:r>
              <a:rPr lang="en-US" altLang="en-US" sz="14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Used pretrained ResNet50</a:t>
            </a: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buAutoNum type="arabicPeriod"/>
            </a:pP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buAutoNum type="arabicPeriod"/>
            </a:pPr>
            <a:r>
              <a:rPr lang="en-US" altLang="en-US" sz="14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Replaced the final layer with a 6-class classifier</a:t>
            </a: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buAutoNum type="arabicPeriod"/>
            </a:pP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buAutoNum type="arabicPeriod"/>
            </a:pPr>
            <a:r>
              <a:rPr lang="en-US" altLang="en-US" sz="14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Fine-tuned only final layers (layer4 and fc)</a:t>
            </a: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16" name="标题"/>
          <p:cNvSpPr/>
          <p:nvPr>
            <p:custDataLst>
              <p:tags r:id="rId4"/>
            </p:custDataLst>
          </p:nvPr>
        </p:nvSpPr>
        <p:spPr>
          <a:xfrm>
            <a:off x="4803458" y="1707198"/>
            <a:ext cx="2646536" cy="6499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Model Selection</a:t>
            </a:r>
            <a:endParaRPr lang="en-GB" alt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17" name="矩形: 圆角 11"/>
          <p:cNvSpPr/>
          <p:nvPr>
            <p:custDataLst>
              <p:tags r:id="rId5"/>
            </p:custDataLst>
          </p:nvPr>
        </p:nvSpPr>
        <p:spPr>
          <a:xfrm>
            <a:off x="8113078" y="2041843"/>
            <a:ext cx="3383681" cy="20072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en-US" altLang="en-US" sz="13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Loss: CrossEntropy with Label Smoothing</a:t>
            </a:r>
            <a:endParaRPr lang="en-US" altLang="en-US" sz="13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lang="en-US" altLang="en-US" sz="13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en-US" altLang="en-US" sz="13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Optimizer: AdamW</a:t>
            </a:r>
            <a:endParaRPr lang="en-US" altLang="en-US" sz="13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lang="en-US" altLang="en-US" sz="13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en-US" altLang="en-US" sz="13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Achieved ~93% test accuracy</a:t>
            </a:r>
            <a:endParaRPr lang="en-US" altLang="en-US" sz="13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18" name="标题"/>
          <p:cNvSpPr/>
          <p:nvPr>
            <p:custDataLst>
              <p:tags r:id="rId6"/>
            </p:custDataLst>
          </p:nvPr>
        </p:nvSpPr>
        <p:spPr>
          <a:xfrm>
            <a:off x="8482013" y="1707198"/>
            <a:ext cx="2646536" cy="6499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Training</a:t>
            </a:r>
            <a:endParaRPr lang="en-GB" alt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20" name="矩形: 圆角 17"/>
          <p:cNvSpPr/>
          <p:nvPr>
            <p:custDataLst>
              <p:tags r:id="rId7"/>
            </p:custDataLst>
          </p:nvPr>
        </p:nvSpPr>
        <p:spPr>
          <a:xfrm>
            <a:off x="2564448" y="4633913"/>
            <a:ext cx="3383681" cy="20072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2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2633" rIns="460012" bIns="155228" numCol="1" spcCol="0" rtlCol="0" fromWordArt="0" anchor="ctr" anchorCtr="0" forceAA="0" compatLnSpc="1">
            <a:noAutofit/>
          </a:bodyPr>
          <a:lstStyle/>
          <a:p>
            <a:pPr marL="0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1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14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Input options: Upload file, Paste URL, Use Webcam</a:t>
            </a: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14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Shows image, prediction, confidence, and probability table</a:t>
            </a: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228600" indent="-2286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en-US" sz="14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22" name="标题"/>
          <p:cNvSpPr/>
          <p:nvPr>
            <p:custDataLst>
              <p:tags r:id="rId8"/>
            </p:custDataLst>
          </p:nvPr>
        </p:nvSpPr>
        <p:spPr>
          <a:xfrm>
            <a:off x="2932748" y="4308793"/>
            <a:ext cx="2646536" cy="6499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User Interface</a:t>
            </a:r>
            <a:endParaRPr lang="en-GB" alt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23" name="矩形: 圆角 20"/>
          <p:cNvSpPr/>
          <p:nvPr>
            <p:custDataLst>
              <p:tags r:id="rId9"/>
            </p:custDataLst>
          </p:nvPr>
        </p:nvSpPr>
        <p:spPr>
          <a:xfrm>
            <a:off x="6243003" y="4633913"/>
            <a:ext cx="3383681" cy="20072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en-US" altLang="en-US" sz="14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Applies softmax to model output</a:t>
            </a:r>
            <a:endParaRPr lang="en-US" altLang="en-US" sz="14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lang="en-US" altLang="en-US" sz="14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en-US" altLang="en-US" sz="14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Shows top class and class-wise confidence</a:t>
            </a:r>
            <a:endParaRPr lang="en-US" altLang="en-US" sz="14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24" name="标题"/>
          <p:cNvSpPr/>
          <p:nvPr>
            <p:custDataLst>
              <p:tags r:id="rId10"/>
            </p:custDataLst>
          </p:nvPr>
        </p:nvSpPr>
        <p:spPr>
          <a:xfrm>
            <a:off x="6611303" y="4308793"/>
            <a:ext cx="2646536" cy="6499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Prediction logic</a:t>
            </a:r>
            <a:endParaRPr lang="en-GB" alt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US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41630" y="4655820"/>
            <a:ext cx="11293475" cy="1740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2400"/>
              <a:t>Develop an image classification mdoel that sorts waste images into their correct categories. the dataset contains labelled images of garbage in six classes (cardboard, glass, metal, paper, trash).</a:t>
            </a:r>
            <a:endParaRPr lang="en-GB" altLang="en-US" sz="2400"/>
          </a:p>
          <a:p>
            <a:r>
              <a:rPr lang="en-GB" altLang="en-US" sz="2400"/>
              <a:t>The goal is to take a photo of waste item and correctly classify it.</a:t>
            </a:r>
            <a:endParaRPr lang="en-GB" alt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341630" y="1760855"/>
            <a:ext cx="11293475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400"/>
              <a:t>Improper segregation of garbage leads to inefficient recycling, environmental hazards, and health risks.</a:t>
            </a:r>
            <a:endParaRPr lang="en-US" altLang="zh-CN" sz="240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400"/>
              <a:t>Manual waste sorting is time-consuming, error-prone, and often unhygienic.</a:t>
            </a:r>
            <a:endParaRPr lang="en-US" altLang="zh-CN" sz="240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400"/>
              <a:t>There is a need for an automated, scalable solution to classify waste types accurately and in real time.</a:t>
            </a:r>
            <a:endParaRPr lang="en-US" altLang="zh-CN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7030" y="1671320"/>
            <a:ext cx="11329035" cy="47694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Developed a deep learning-based classifier using ResNet50 for high-accuracy garbage classification.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Implemented data augmentation techniques to improve generalization on real-world images.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 b="1"/>
              <a:t>Integrated a clean and interactive Streamlit-based web app to accept images via:</a:t>
            </a:r>
            <a:endParaRPr lang="en-US" altLang="zh-CN" sz="1600" b="1"/>
          </a:p>
          <a:p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zh-CN" altLang="en-US" sz="1600"/>
              <a:t>📁 </a:t>
            </a:r>
            <a:r>
              <a:rPr lang="en-US" altLang="zh-CN" sz="1600"/>
              <a:t>File upload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zh-CN" altLang="en-US" sz="1600"/>
              <a:t>🌐 </a:t>
            </a:r>
            <a:r>
              <a:rPr lang="en-US" altLang="zh-CN" sz="1600"/>
              <a:t>URL input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zh-CN" altLang="en-US" sz="1600"/>
              <a:t>📷 </a:t>
            </a:r>
            <a:r>
              <a:rPr lang="en-US" altLang="zh-CN" sz="1600"/>
              <a:t>Webcam capture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r>
              <a:rPr lang="en-US" altLang="zh-CN" sz="1600" b="1"/>
              <a:t>Displayed prediction results with:</a:t>
            </a:r>
            <a:endParaRPr lang="en-US" altLang="zh-CN" sz="1600" b="1"/>
          </a:p>
          <a:p>
            <a:endParaRPr lang="en-US" altLang="zh-CN" sz="1600" b="1"/>
          </a:p>
          <a:p>
            <a:pPr marL="285750" indent="-285750">
              <a:buFont typeface="Wingdings" panose="05000000000000000000" charset="0"/>
              <a:buChar char="§"/>
            </a:pPr>
            <a:r>
              <a:rPr lang="zh-CN" altLang="en-US" sz="1600"/>
              <a:t>🎯 </a:t>
            </a:r>
            <a:r>
              <a:rPr lang="en-US" altLang="zh-CN" sz="1600"/>
              <a:t>Top predicted class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zh-CN" altLang="en-US" sz="1600"/>
              <a:t>📊 </a:t>
            </a:r>
            <a:r>
              <a:rPr lang="en-US" altLang="zh-CN" sz="1600"/>
              <a:t>Confidence percentage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zh-CN" altLang="en-US" sz="1600"/>
              <a:t>🔢 </a:t>
            </a:r>
            <a:r>
              <a:rPr lang="en-US" altLang="zh-CN" sz="1600"/>
              <a:t>Probability distribution across all classes</a:t>
            </a:r>
            <a:endParaRPr lang="en-US" altLang="zh-CN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" name="Picture 1" descr="Screenshot (101)"/>
          <p:cNvPicPr>
            <a:picLocks noChangeAspect="1"/>
          </p:cNvPicPr>
          <p:nvPr/>
        </p:nvPicPr>
        <p:blipFill>
          <a:blip r:embed="rId1"/>
          <a:srcRect l="4130" t="13776" r="4958" b="8736"/>
          <a:stretch>
            <a:fillRect/>
          </a:stretch>
        </p:blipFill>
        <p:spPr>
          <a:xfrm>
            <a:off x="1412875" y="1715770"/>
            <a:ext cx="9366250" cy="4488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80670" y="1388110"/>
            <a:ext cx="11688445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This project demonstrates how AI can contribute to solving real-world environmental issues by automating waste classification.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Leveraged the power of transfer learning and human-centered UI design to make the model accessible and intuitive for users.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1157" t="27309" r="48804" b="17587"/>
          <a:stretch>
            <a:fillRect/>
          </a:stretch>
        </p:blipFill>
        <p:spPr>
          <a:xfrm>
            <a:off x="3033395" y="2368550"/>
            <a:ext cx="5567045" cy="430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41575" y="2767965"/>
            <a:ext cx="730885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9600" b="1" dirty="0">
                <a:solidFill>
                  <a:srgbClr val="213163"/>
                </a:solidFill>
                <a:sym typeface="+mn-ea"/>
              </a:rPr>
              <a:t>Thank You..</a:t>
            </a:r>
            <a:endParaRPr lang="en-GB" altLang="en-US" sz="9600" b="1" dirty="0">
              <a:solidFill>
                <a:srgbClr val="213163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TABLE_ENDDRAG_ORIGIN_RECT" val="730*355"/>
  <p:tag name="TABLE_ENDDRAG_RECT" val="144*150*730*355"/>
  <p:tag name="TABLE_AUTOADJUST_FLAG" val="1"/>
</p:tagLst>
</file>

<file path=ppt/tags/tag5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1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1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5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39_4*l_h_a*1_1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2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2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6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39_4*l_h_a*1_2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3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3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5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39_4*l_h_a*1_3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4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4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6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8239_4*l_h_a*1_4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5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5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5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8239_4*l_h_a*1_5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52834948442114,&quot;left&quot;:54.308807373046875,&quot;top&quot;:134.39960327148438,&quot;width&quot;:851.3823852539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resource_record_key" val="{&quot;70&quot;:[3322340]}"/>
</p:tagLst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0</TotalTime>
  <Words>2569</Words>
  <Application>WPS Slides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Wingdings</vt:lpstr>
      <vt:lpstr>Session 01 Design Thinking &amp; Critical Thinking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N200320 CHANDOLU JYOTHIRMAI</cp:lastModifiedBy>
  <cp:revision>6</cp:revision>
  <dcterms:created xsi:type="dcterms:W3CDTF">2024-12-31T09:40:00Z</dcterms:created>
  <dcterms:modified xsi:type="dcterms:W3CDTF">2025-07-06T12:11:00Z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930F119676E54125AB24A00B824ED888_13</vt:lpwstr>
  </property>
  <property fmtid="{D5CDD505-2E9C-101B-9397-08002B2CF9AE}" pid="3" name="KSOProductBuildVer">
    <vt:lpwstr>1033-12.2.0.20796</vt:lpwstr>
  </property>
</Properties>
</file>